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1" r:id="rId2"/>
    <p:sldId id="263" r:id="rId3"/>
    <p:sldId id="278" r:id="rId4"/>
    <p:sldId id="265" r:id="rId5"/>
    <p:sldId id="279" r:id="rId6"/>
    <p:sldId id="273" r:id="rId7"/>
    <p:sldId id="281" r:id="rId8"/>
    <p:sldId id="282" r:id="rId9"/>
    <p:sldId id="280" r:id="rId10"/>
    <p:sldId id="284" r:id="rId11"/>
    <p:sldId id="285" r:id="rId12"/>
    <p:sldId id="274" r:id="rId13"/>
    <p:sldId id="275" r:id="rId14"/>
    <p:sldId id="276" r:id="rId15"/>
    <p:sldId id="277" r:id="rId16"/>
    <p:sldId id="283" r:id="rId17"/>
    <p:sldId id="272" r:id="rId18"/>
    <p:sldId id="286" r:id="rId19"/>
    <p:sldId id="288" r:id="rId20"/>
    <p:sldId id="28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pos="1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A10"/>
    <a:srgbClr val="00589F"/>
    <a:srgbClr val="014D8E"/>
    <a:srgbClr val="436FC1"/>
    <a:srgbClr val="A2A4A4"/>
    <a:srgbClr val="5999D3"/>
    <a:srgbClr val="254175"/>
    <a:srgbClr val="6D6868"/>
    <a:srgbClr val="005296"/>
    <a:srgbClr val="005F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56"/>
    <p:restoredTop sz="96208"/>
  </p:normalViewPr>
  <p:slideViewPr>
    <p:cSldViewPr snapToGrid="0" snapToObjects="1" showGuides="1">
      <p:cViewPr varScale="1">
        <p:scale>
          <a:sx n="115" d="100"/>
          <a:sy n="115" d="100"/>
        </p:scale>
        <p:origin x="232" y="456"/>
      </p:cViewPr>
      <p:guideLst>
        <p:guide orient="horz" pos="3748"/>
        <p:guide pos="1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5896B-F54D-CB4E-8E1F-E922CD267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9CB30-EEA7-6C48-BA49-131675470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C9555-C9B4-D94D-A6AC-7000721C1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3/10/23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0B8D3-9A29-B64E-B444-0F0A1CB1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229D4-3156-F845-AAA9-9F4AAF57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32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2A24-3BCF-104F-B2B4-808FFA12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9C088-CD2E-5547-B2FF-83C53C834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FA407-11D9-5947-BBF3-D9FAD7D34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3/10/23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7F927-7DAC-9341-842B-0FD264B3B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5873C-CF74-1049-BA6C-9C81E0EE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571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1A87C-251F-CB4D-AA3C-16067809D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BE4E9-9A6A-714C-9DDC-E4500738C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49ECF-C4D9-6E4A-840B-E852BB7D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3/10/23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AB227-288D-904A-95BB-5BE988289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2B549-73B6-8C4B-B667-111ADF176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41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7E6A-42EF-944F-A701-188B72DAC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11A28-F85A-CD49-95B6-8BDD3110B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70336-DDE3-E147-AAC4-D175A5EE4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FC7F5-0F77-CC4E-A7F3-E09E89CD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3/10/23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B59C2-A178-754D-898A-11EDEB4AD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72E9B-7AC7-E942-A5A8-7CF1D9F2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38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D4EE-9647-124A-A396-2CD164183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BC021-8473-1247-A0A3-6E92389A5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61C68-B174-6F42-A27E-E6DFD2819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A13931-4430-B94E-B071-1A9E67B5C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A3A001-AFF5-8242-A49C-787813881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947992-8148-4B4B-88CE-1BD94B629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3/10/23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778456-4CE9-8E47-A1D5-F506F16D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D1E0FB-33FF-614D-A183-66470F06D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467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ACE1-36CE-3A43-83D4-971EE0EFF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4C53A-F68C-C543-B6B1-7918BAF35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3/10/23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ACA56-584B-8249-9BAB-AD5093169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22BB5-F0BF-C94C-BF58-AFC82296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622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B40D476-EEF5-7540-AF03-C95B5E3ABB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025" t="16383" r="11065" b="12297"/>
          <a:stretch/>
        </p:blipFill>
        <p:spPr>
          <a:xfrm>
            <a:off x="0" y="0"/>
            <a:ext cx="11328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04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B40D476-EEF5-7540-AF03-C95B5E3ABB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19" t="13182" r="3002" b="7575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342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395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F07356-A34D-4F4D-A489-BAAA1D2552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25" t="12803" r="7288" b="46015"/>
          <a:stretch/>
        </p:blipFill>
        <p:spPr>
          <a:xfrm>
            <a:off x="0" y="0"/>
            <a:ext cx="12192000" cy="36168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B503D70-FF35-A949-A3D8-E63C868F36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686" t="451" r="7375" b="1"/>
          <a:stretch/>
        </p:blipFill>
        <p:spPr>
          <a:xfrm rot="20436793">
            <a:off x="-188402" y="2374729"/>
            <a:ext cx="13432426" cy="5601308"/>
          </a:xfrm>
          <a:custGeom>
            <a:avLst/>
            <a:gdLst>
              <a:gd name="connsiteX0" fmla="*/ 12359125 w 13432426"/>
              <a:gd name="connsiteY0" fmla="*/ 0 h 5601308"/>
              <a:gd name="connsiteX1" fmla="*/ 13432426 w 13432426"/>
              <a:gd name="connsiteY1" fmla="*/ 377691 h 5601308"/>
              <a:gd name="connsiteX2" fmla="*/ 13432426 w 13432426"/>
              <a:gd name="connsiteY2" fmla="*/ 778593 h 5601308"/>
              <a:gd name="connsiteX3" fmla="*/ 11735330 w 13432426"/>
              <a:gd name="connsiteY3" fmla="*/ 5601308 h 5601308"/>
              <a:gd name="connsiteX4" fmla="*/ 9605975 w 13432426"/>
              <a:gd name="connsiteY4" fmla="*/ 5601308 h 5601308"/>
              <a:gd name="connsiteX5" fmla="*/ 0 w 13432426"/>
              <a:gd name="connsiteY5" fmla="*/ 2221001 h 5601308"/>
              <a:gd name="connsiteX6" fmla="*/ 781562 w 13432426"/>
              <a:gd name="connsiteY6" fmla="*/ 0 h 560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2426" h="5601308">
                <a:moveTo>
                  <a:pt x="12359125" y="0"/>
                </a:moveTo>
                <a:lnTo>
                  <a:pt x="13432426" y="377691"/>
                </a:lnTo>
                <a:lnTo>
                  <a:pt x="13432426" y="778593"/>
                </a:lnTo>
                <a:lnTo>
                  <a:pt x="11735330" y="5601308"/>
                </a:lnTo>
                <a:lnTo>
                  <a:pt x="9605975" y="5601308"/>
                </a:lnTo>
                <a:lnTo>
                  <a:pt x="0" y="2221001"/>
                </a:lnTo>
                <a:lnTo>
                  <a:pt x="781562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93606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8BA7AC-F33E-C740-BF8D-F8385FEFA6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025" t="16383" r="11065" b="12297"/>
          <a:stretch/>
        </p:blipFill>
        <p:spPr>
          <a:xfrm>
            <a:off x="0" y="0"/>
            <a:ext cx="11328400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2832F23-5F8E-C24A-924C-295E5E3C0658}"/>
              </a:ext>
            </a:extLst>
          </p:cNvPr>
          <p:cNvSpPr/>
          <p:nvPr userDrawn="1"/>
        </p:nvSpPr>
        <p:spPr>
          <a:xfrm>
            <a:off x="10778066" y="5338233"/>
            <a:ext cx="1130300" cy="11303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12700" dir="2580000" sx="104000" sy="104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94B41FC5-8BC2-BB44-AC5B-4D88A06355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62216" y="5520267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43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832F23-5F8E-C24A-924C-295E5E3C0658}"/>
              </a:ext>
            </a:extLst>
          </p:cNvPr>
          <p:cNvSpPr/>
          <p:nvPr userDrawn="1"/>
        </p:nvSpPr>
        <p:spPr>
          <a:xfrm>
            <a:off x="10778066" y="5338233"/>
            <a:ext cx="1130300" cy="11303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12700" dir="2580000" sx="104000" sy="104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94B41FC5-8BC2-BB44-AC5B-4D88A06355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62216" y="5520267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564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1018-2976-AA49-A740-DDC5D6D70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3960F-3B9D-134F-920F-56EC4DE5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9E991-8828-2049-9393-950FD703A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D5707-B915-DA47-9178-0C1ABADB0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3/10/23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4392B-A7E4-D143-BD60-F9538421A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51E37-109A-B343-B780-F7233ACAF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701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22277-4EFA-E743-8BB3-E6C403E66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2D57E5-3218-D44D-89DB-D869107F7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F2D83-EAB4-CA44-A7F7-C18A4A715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5B392-C1F3-764E-9AA3-457044F12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3/10/23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4A54A-FF07-7C48-999A-67D71B4B0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8022A-1337-0B44-AEA8-E4615BE3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58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33C27-9C65-3E45-873D-7188A5407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68386-7936-D842-93AB-FC92510A5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51898-E20A-7241-B4F6-77B54730E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3/10/23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5934C-A9FF-B24C-8179-DD4A08F83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683F-F7E4-5848-A263-3A612EE69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80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D2FD4F-C622-364D-BAB7-1FCE29216D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6E67C-1202-244C-8382-954898328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5452-BB22-FC4D-B6DC-D4C0270D6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3/10/23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DABA5-026E-9641-AAB0-00A2093D8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273DA-7F7F-9343-A113-D4F5DF98B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68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80D5B3-FA64-FD40-A370-F37EF9C6C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17060-FA86-7942-99EC-88B397F15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D0105-0DFD-3F40-AA87-1642704DF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2BF8E-211B-9C43-825C-0671E50D7E39}" type="datetimeFigureOut">
              <a:rPr lang="en-US" smtClean="0"/>
              <a:t>3/10/23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3CF04-95E7-7144-8A2B-1D7ADE927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88691-866E-CF46-9919-541469EDC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35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7" r:id="rId8"/>
    <p:sldLayoutId id="2147483673" r:id="rId9"/>
    <p:sldLayoutId id="2147483675" r:id="rId10"/>
    <p:sldLayoutId id="2147483674" r:id="rId11"/>
    <p:sldLayoutId id="2147483676" r:id="rId12"/>
    <p:sldLayoutId id="2147483668" r:id="rId13"/>
    <p:sldLayoutId id="2147483669" r:id="rId14"/>
    <p:sldLayoutId id="2147483670" r:id="rId15"/>
    <p:sldLayoutId id="214748367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8621ED-814E-F441-93A2-B7DC230A7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19" y="595020"/>
            <a:ext cx="3021463" cy="590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890AA6-3288-7A41-9F48-31D099259D5C}"/>
              </a:ext>
            </a:extLst>
          </p:cNvPr>
          <p:cNvSpPr txBox="1"/>
          <p:nvPr/>
        </p:nvSpPr>
        <p:spPr>
          <a:xfrm>
            <a:off x="282105" y="2367874"/>
            <a:ext cx="777816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3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Capstone Presentation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40E41-0F8D-4151-979A-4270FBA95E57}"/>
              </a:ext>
            </a:extLst>
          </p:cNvPr>
          <p:cNvSpPr txBox="1"/>
          <p:nvPr/>
        </p:nvSpPr>
        <p:spPr>
          <a:xfrm>
            <a:off x="689316" y="3429000"/>
            <a:ext cx="48814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Customer Churn Analysis</a:t>
            </a:r>
          </a:p>
          <a:p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</a:t>
            </a:r>
            <a:r>
              <a:rPr lang="en-US" sz="20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Mrudhulaa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PV</a:t>
            </a:r>
          </a:p>
        </p:txBody>
      </p:sp>
    </p:spTree>
    <p:extLst>
      <p:ext uri="{BB962C8B-B14F-4D97-AF65-F5344CB8AC3E}">
        <p14:creationId xmlns:p14="http://schemas.microsoft.com/office/powerpoint/2010/main" val="3252274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1103971" y="590476"/>
            <a:ext cx="9327879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Problem Understanding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B8933-F44C-374A-B677-D79AD8184284}"/>
              </a:ext>
            </a:extLst>
          </p:cNvPr>
          <p:cNvSpPr txBox="1"/>
          <p:nvPr/>
        </p:nvSpPr>
        <p:spPr>
          <a:xfrm>
            <a:off x="897558" y="1536174"/>
            <a:ext cx="953429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1150" indent="-28575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E-commerce company is currently facing difficulties in retaining customers due to the intense competition in the market</a:t>
            </a:r>
          </a:p>
          <a:p>
            <a:pPr marL="311150" indent="-285750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111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Loss of customers implies loss in revenue</a:t>
            </a:r>
          </a:p>
          <a:p>
            <a:pPr marL="311150" indent="-285750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111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Broadcasters' profitability are impacted by high customer acquisition costs and fixed content fees</a:t>
            </a:r>
          </a:p>
          <a:p>
            <a:pPr marL="311150" indent="-285750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111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Five times the cost of client retention equals the cost of customer acquisition</a:t>
            </a:r>
          </a:p>
          <a:p>
            <a:pPr marL="311150" indent="-285750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111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Profits rise from 25-95% when client retention is increased by 5%</a:t>
            </a:r>
          </a:p>
          <a:p>
            <a:pPr marL="25400" indent="0">
              <a:buNone/>
            </a:pPr>
            <a:endParaRPr lang="en-IN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5400" indent="0">
              <a:buNone/>
            </a:pPr>
            <a:r>
              <a:rPr lang="en-IN" sz="2000" b="1" u="sng" dirty="0">
                <a:solidFill>
                  <a:srgbClr val="014D8E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OBJECTIVE:</a:t>
            </a:r>
          </a:p>
          <a:p>
            <a:pPr marL="25400" indent="0">
              <a:buNone/>
            </a:pPr>
            <a:endParaRPr lang="en-IN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5400" indent="0">
              <a:buNone/>
            </a:pPr>
            <a:r>
              <a:rPr lang="en-IN" b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overcome this challenge, the company plans to create a model that can predict customer churn and provide customized offers to potential churners.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036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21EED3-7ACC-D0DA-9B5E-E3F9E9F2DD42}"/>
              </a:ext>
            </a:extLst>
          </p:cNvPr>
          <p:cNvSpPr txBox="1"/>
          <p:nvPr/>
        </p:nvSpPr>
        <p:spPr>
          <a:xfrm>
            <a:off x="1237785" y="1427357"/>
            <a:ext cx="9021337" cy="3820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/>
            <a:r>
              <a:rPr lang="en-IN" sz="1800" b="1" u="sng" dirty="0">
                <a:solidFill>
                  <a:srgbClr val="014D8E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SCOPE:</a:t>
            </a:r>
          </a:p>
          <a:p>
            <a:pPr marL="25400" indent="0">
              <a:buNone/>
            </a:pPr>
            <a:endParaRPr lang="en-IN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111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most effective model for predicting churn</a:t>
            </a:r>
          </a:p>
          <a:p>
            <a:pPr marL="3111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Significant insights and recommendations from the model and EDA</a:t>
            </a:r>
          </a:p>
          <a:p>
            <a:pPr marL="25400" indent="0">
              <a:buNone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5400"/>
            <a:r>
              <a:rPr lang="en-IN" sz="1800" b="1" u="sng" dirty="0">
                <a:solidFill>
                  <a:srgbClr val="014D8E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CONSTRAINTS:</a:t>
            </a:r>
          </a:p>
          <a:p>
            <a:pPr marL="25400"/>
            <a:endParaRPr lang="en-IN" b="1" u="sng" dirty="0">
              <a:solidFill>
                <a:srgbClr val="014D8E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111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Prior retention initiatives may have included cashbacks or discounts, but this is unknown</a:t>
            </a:r>
          </a:p>
          <a:p>
            <a:pPr marL="3111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Unknown campaign budget</a:t>
            </a:r>
          </a:p>
          <a:p>
            <a:pPr marL="25400" indent="0">
              <a:buNone/>
            </a:pPr>
            <a:endParaRPr lang="en-IN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830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1041988" y="614502"/>
            <a:ext cx="9116863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Ingestion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B8933-F44C-374A-B677-D79AD8184284}"/>
              </a:ext>
            </a:extLst>
          </p:cNvPr>
          <p:cNvSpPr txBox="1"/>
          <p:nvPr/>
        </p:nvSpPr>
        <p:spPr>
          <a:xfrm>
            <a:off x="1041988" y="1659285"/>
            <a:ext cx="931749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The given data has 19 variables (including target variable) and 11260 observations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Variables are of integer, string and float data types and few are also categorical in nature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Data does not show any duplication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Variables have presence of null values in data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Numerical variables are not normally distributed and are skewed in nature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Numeric variables also shows presence if outliers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Targe variable (Churn) shows that data is imbalance in nature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695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1537568" y="197328"/>
            <a:ext cx="7729095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Modelling Approach Used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2BBB34-2883-154B-B588-CD7BD235E055}"/>
              </a:ext>
            </a:extLst>
          </p:cNvPr>
          <p:cNvSpPr/>
          <p:nvPr/>
        </p:nvSpPr>
        <p:spPr>
          <a:xfrm>
            <a:off x="1287519" y="5148306"/>
            <a:ext cx="1019742" cy="1019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89D5F40-FD28-F442-905F-E871742D5041}"/>
              </a:ext>
            </a:extLst>
          </p:cNvPr>
          <p:cNvSpPr/>
          <p:nvPr/>
        </p:nvSpPr>
        <p:spPr>
          <a:xfrm>
            <a:off x="4585895" y="5148306"/>
            <a:ext cx="1019742" cy="1019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Punched Tape 2">
            <a:extLst>
              <a:ext uri="{FF2B5EF4-FFF2-40B4-BE49-F238E27FC236}">
                <a16:creationId xmlns:a16="http://schemas.microsoft.com/office/drawing/2014/main" id="{CBB00411-1C77-7913-B499-7249BCBFE72B}"/>
              </a:ext>
            </a:extLst>
          </p:cNvPr>
          <p:cNvSpPr/>
          <p:nvPr/>
        </p:nvSpPr>
        <p:spPr>
          <a:xfrm>
            <a:off x="1170487" y="1116445"/>
            <a:ext cx="1269191" cy="1102624"/>
          </a:xfrm>
          <a:prstGeom prst="flowChartPunchedTape">
            <a:avLst/>
          </a:prstGeom>
          <a:solidFill>
            <a:srgbClr val="FF7A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Visual inspection</a:t>
            </a:r>
          </a:p>
        </p:txBody>
      </p:sp>
      <p:sp>
        <p:nvSpPr>
          <p:cNvPr id="4" name="Punched Tape 3">
            <a:extLst>
              <a:ext uri="{FF2B5EF4-FFF2-40B4-BE49-F238E27FC236}">
                <a16:creationId xmlns:a16="http://schemas.microsoft.com/office/drawing/2014/main" id="{6FBE0933-7D8B-BDA5-3A23-C079CF336829}"/>
              </a:ext>
            </a:extLst>
          </p:cNvPr>
          <p:cNvSpPr/>
          <p:nvPr/>
        </p:nvSpPr>
        <p:spPr>
          <a:xfrm>
            <a:off x="1175617" y="2124916"/>
            <a:ext cx="1264062" cy="1073418"/>
          </a:xfrm>
          <a:prstGeom prst="flowChartPunchedTape">
            <a:avLst/>
          </a:prstGeom>
          <a:solidFill>
            <a:srgbClr val="FF7A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EDA</a:t>
            </a:r>
          </a:p>
          <a:p>
            <a:pPr algn="ctr"/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unched Tape 7">
            <a:extLst>
              <a:ext uri="{FF2B5EF4-FFF2-40B4-BE49-F238E27FC236}">
                <a16:creationId xmlns:a16="http://schemas.microsoft.com/office/drawing/2014/main" id="{BBF7AE2A-52C8-F033-6987-7EB1466357C7}"/>
              </a:ext>
            </a:extLst>
          </p:cNvPr>
          <p:cNvSpPr/>
          <p:nvPr/>
        </p:nvSpPr>
        <p:spPr>
          <a:xfrm>
            <a:off x="1165359" y="3082364"/>
            <a:ext cx="1264062" cy="1271240"/>
          </a:xfrm>
          <a:prstGeom prst="flowChartPunchedTape">
            <a:avLst/>
          </a:prstGeom>
          <a:solidFill>
            <a:srgbClr val="FF7A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 preparation</a:t>
            </a:r>
          </a:p>
        </p:txBody>
      </p:sp>
      <p:sp>
        <p:nvSpPr>
          <p:cNvPr id="9" name="Punched Tape 8">
            <a:extLst>
              <a:ext uri="{FF2B5EF4-FFF2-40B4-BE49-F238E27FC236}">
                <a16:creationId xmlns:a16="http://schemas.microsoft.com/office/drawing/2014/main" id="{9B79C43F-C9C8-55B9-5F50-F0ACD64ED20C}"/>
              </a:ext>
            </a:extLst>
          </p:cNvPr>
          <p:cNvSpPr/>
          <p:nvPr/>
        </p:nvSpPr>
        <p:spPr>
          <a:xfrm>
            <a:off x="1165359" y="4279494"/>
            <a:ext cx="1264062" cy="954742"/>
          </a:xfrm>
          <a:prstGeom prst="flowChartPunchedTape">
            <a:avLst/>
          </a:prstGeom>
          <a:solidFill>
            <a:srgbClr val="FF7A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Pre-processing</a:t>
            </a:r>
          </a:p>
        </p:txBody>
      </p:sp>
      <p:sp>
        <p:nvSpPr>
          <p:cNvPr id="10" name="Punched Tape 9">
            <a:extLst>
              <a:ext uri="{FF2B5EF4-FFF2-40B4-BE49-F238E27FC236}">
                <a16:creationId xmlns:a16="http://schemas.microsoft.com/office/drawing/2014/main" id="{EFADF9B9-39A1-479E-FBBC-33579C945A4A}"/>
              </a:ext>
            </a:extLst>
          </p:cNvPr>
          <p:cNvSpPr/>
          <p:nvPr/>
        </p:nvSpPr>
        <p:spPr>
          <a:xfrm>
            <a:off x="1165356" y="5209403"/>
            <a:ext cx="1264062" cy="1271240"/>
          </a:xfrm>
          <a:prstGeom prst="flowChartPunchedTape">
            <a:avLst/>
          </a:prstGeom>
          <a:solidFill>
            <a:srgbClr val="FF7A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Modelling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722492-2C9D-253D-E54C-C693736E2A0C}"/>
              </a:ext>
            </a:extLst>
          </p:cNvPr>
          <p:cNvSpPr/>
          <p:nvPr/>
        </p:nvSpPr>
        <p:spPr>
          <a:xfrm>
            <a:off x="2429421" y="1203361"/>
            <a:ext cx="7190793" cy="8748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cs typeface="Times New Roman" panose="02020603050405020304" pitchFamily="18" charset="0"/>
              </a:rPr>
              <a:t>Observe rows &amp; columns, data attributes, datatypes, null values, duplicates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cs typeface="Times New Roman" panose="02020603050405020304" pitchFamily="18" charset="0"/>
              </a:rPr>
              <a:t>Perform data cleaning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cs typeface="Times New Roman" panose="02020603050405020304" pitchFamily="18" charset="0"/>
              </a:rPr>
              <a:t>Statistical description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62BEAC-1907-E76A-A54D-058490C05863}"/>
              </a:ext>
            </a:extLst>
          </p:cNvPr>
          <p:cNvSpPr/>
          <p:nvPr/>
        </p:nvSpPr>
        <p:spPr>
          <a:xfrm>
            <a:off x="2439679" y="2219781"/>
            <a:ext cx="7185660" cy="8518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Perform univariate and bivariate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Perform univariate analysis for categorical variables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Correlations between variables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5A9B1B-1BE1-4968-7B77-FBC2F0244335}"/>
              </a:ext>
            </a:extLst>
          </p:cNvPr>
          <p:cNvSpPr/>
          <p:nvPr/>
        </p:nvSpPr>
        <p:spPr>
          <a:xfrm>
            <a:off x="2429421" y="3179024"/>
            <a:ext cx="7185660" cy="10618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Remove unwanted variables (Account ID)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Missing value treatment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Outlier treatment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Variable transformation (Encoding)</a:t>
            </a:r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7B38DD-4075-513F-FB07-10A9B802ABC4}"/>
              </a:ext>
            </a:extLst>
          </p:cNvPr>
          <p:cNvSpPr/>
          <p:nvPr/>
        </p:nvSpPr>
        <p:spPr>
          <a:xfrm>
            <a:off x="2429418" y="4354316"/>
            <a:ext cx="7190793" cy="8111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Train-test split in 70:30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Scaling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E99F03-8707-06E3-A378-E494D4272654}"/>
              </a:ext>
            </a:extLst>
          </p:cNvPr>
          <p:cNvSpPr/>
          <p:nvPr/>
        </p:nvSpPr>
        <p:spPr>
          <a:xfrm>
            <a:off x="2429418" y="5301802"/>
            <a:ext cx="7185660" cy="10135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Test several algorithms and measure performance on the train and test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Hyperparameters tuning on 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Depending on evaluation metrics, choose the best model</a:t>
            </a:r>
          </a:p>
        </p:txBody>
      </p:sp>
    </p:spTree>
    <p:extLst>
      <p:ext uri="{BB962C8B-B14F-4D97-AF65-F5344CB8AC3E}">
        <p14:creationId xmlns:p14="http://schemas.microsoft.com/office/powerpoint/2010/main" val="1480807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1254154" y="384930"/>
            <a:ext cx="8665209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 of model performance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271580C-9620-4B95-D078-C4C04274B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463127"/>
              </p:ext>
            </p:extLst>
          </p:nvPr>
        </p:nvGraphicFramePr>
        <p:xfrm>
          <a:off x="379139" y="1434398"/>
          <a:ext cx="10415237" cy="418773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215483">
                  <a:extLst>
                    <a:ext uri="{9D8B030D-6E8A-4147-A177-3AD203B41FA5}">
                      <a16:colId xmlns:a16="http://schemas.microsoft.com/office/drawing/2014/main" val="3868702492"/>
                    </a:ext>
                  </a:extLst>
                </a:gridCol>
                <a:gridCol w="940426">
                  <a:extLst>
                    <a:ext uri="{9D8B030D-6E8A-4147-A177-3AD203B41FA5}">
                      <a16:colId xmlns:a16="http://schemas.microsoft.com/office/drawing/2014/main" val="2853204050"/>
                    </a:ext>
                  </a:extLst>
                </a:gridCol>
                <a:gridCol w="1179904">
                  <a:extLst>
                    <a:ext uri="{9D8B030D-6E8A-4147-A177-3AD203B41FA5}">
                      <a16:colId xmlns:a16="http://schemas.microsoft.com/office/drawing/2014/main" val="3654009922"/>
                    </a:ext>
                  </a:extLst>
                </a:gridCol>
                <a:gridCol w="1179904">
                  <a:extLst>
                    <a:ext uri="{9D8B030D-6E8A-4147-A177-3AD203B41FA5}">
                      <a16:colId xmlns:a16="http://schemas.microsoft.com/office/drawing/2014/main" val="2250160109"/>
                    </a:ext>
                  </a:extLst>
                </a:gridCol>
                <a:gridCol w="1179904">
                  <a:extLst>
                    <a:ext uri="{9D8B030D-6E8A-4147-A177-3AD203B41FA5}">
                      <a16:colId xmlns:a16="http://schemas.microsoft.com/office/drawing/2014/main" val="2479068375"/>
                    </a:ext>
                  </a:extLst>
                </a:gridCol>
                <a:gridCol w="1179904">
                  <a:extLst>
                    <a:ext uri="{9D8B030D-6E8A-4147-A177-3AD203B41FA5}">
                      <a16:colId xmlns:a16="http://schemas.microsoft.com/office/drawing/2014/main" val="1957743755"/>
                    </a:ext>
                  </a:extLst>
                </a:gridCol>
                <a:gridCol w="1179904">
                  <a:extLst>
                    <a:ext uri="{9D8B030D-6E8A-4147-A177-3AD203B41FA5}">
                      <a16:colId xmlns:a16="http://schemas.microsoft.com/office/drawing/2014/main" val="3838558364"/>
                    </a:ext>
                  </a:extLst>
                </a:gridCol>
                <a:gridCol w="1179904">
                  <a:extLst>
                    <a:ext uri="{9D8B030D-6E8A-4147-A177-3AD203B41FA5}">
                      <a16:colId xmlns:a16="http://schemas.microsoft.com/office/drawing/2014/main" val="3963075499"/>
                    </a:ext>
                  </a:extLst>
                </a:gridCol>
                <a:gridCol w="1179904">
                  <a:extLst>
                    <a:ext uri="{9D8B030D-6E8A-4147-A177-3AD203B41FA5}">
                      <a16:colId xmlns:a16="http://schemas.microsoft.com/office/drawing/2014/main" val="3440895226"/>
                    </a:ext>
                  </a:extLst>
                </a:gridCol>
              </a:tblGrid>
              <a:tr h="402305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Model</a:t>
                      </a:r>
                    </a:p>
                  </a:txBody>
                  <a:tcPr anchor="ctr"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Training dataset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Testing dataset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877177"/>
                  </a:ext>
                </a:extLst>
              </a:tr>
              <a:tr h="40230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Accuracy</a:t>
                      </a:r>
                    </a:p>
                  </a:txBody>
                  <a:tcPr anchor="ctr"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Recall</a:t>
                      </a:r>
                    </a:p>
                  </a:txBody>
                  <a:tcPr anchor="ctr"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Precision</a:t>
                      </a:r>
                    </a:p>
                  </a:txBody>
                  <a:tcPr anchor="ctr"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F1-Score</a:t>
                      </a:r>
                      <a:endParaRPr lang="en-US" sz="1400" b="1" i="0" dirty="0"/>
                    </a:p>
                  </a:txBody>
                  <a:tcPr anchor="ctr"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Accuracy</a:t>
                      </a:r>
                    </a:p>
                  </a:txBody>
                  <a:tcPr anchor="ctr"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Recall</a:t>
                      </a:r>
                    </a:p>
                  </a:txBody>
                  <a:tcPr anchor="ctr"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/>
                        <a:t>Precision</a:t>
                      </a:r>
                    </a:p>
                  </a:txBody>
                  <a:tcPr anchor="ctr"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F1-Score</a:t>
                      </a:r>
                      <a:endParaRPr lang="en-US" sz="1400" b="1" i="0" dirty="0"/>
                    </a:p>
                  </a:txBody>
                  <a:tcPr anchor="ctr"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164401"/>
                  </a:ext>
                </a:extLst>
              </a:tr>
              <a:tr h="4023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Gradient Boosting tuned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1.00</a:t>
                      </a:r>
                    </a:p>
                  </a:txBody>
                  <a:tcPr anchor="ctr"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0.98</a:t>
                      </a:r>
                    </a:p>
                  </a:txBody>
                  <a:tcPr anchor="ctr"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1.00</a:t>
                      </a:r>
                    </a:p>
                  </a:txBody>
                  <a:tcPr anchor="ctr"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0.92</a:t>
                      </a:r>
                    </a:p>
                  </a:txBody>
                  <a:tcPr anchor="ctr"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1.00</a:t>
                      </a:r>
                    </a:p>
                  </a:txBody>
                  <a:tcPr anchor="ctr"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0.97</a:t>
                      </a:r>
                    </a:p>
                  </a:txBody>
                  <a:tcPr anchor="ctr"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1.00</a:t>
                      </a:r>
                    </a:p>
                  </a:txBody>
                  <a:tcPr anchor="ctr"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0.95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371948"/>
                  </a:ext>
                </a:extLst>
              </a:tr>
              <a:tr h="40230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Bagging with Decision tree</a:t>
                      </a:r>
                      <a:endParaRPr lang="en-US" sz="1200" dirty="0"/>
                    </a:p>
                  </a:txBody>
                  <a:tcPr anchor="ctr"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1.00</a:t>
                      </a:r>
                    </a:p>
                  </a:txBody>
                  <a:tcPr anchor="ctr"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0.97</a:t>
                      </a:r>
                    </a:p>
                  </a:txBody>
                  <a:tcPr anchor="ctr"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1.00</a:t>
                      </a:r>
                    </a:p>
                  </a:txBody>
                  <a:tcPr anchor="ctr"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0.87</a:t>
                      </a:r>
                    </a:p>
                  </a:txBody>
                  <a:tcPr anchor="ctr"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1.00</a:t>
                      </a:r>
                    </a:p>
                  </a:txBody>
                  <a:tcPr anchor="ctr"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0.95</a:t>
                      </a:r>
                    </a:p>
                  </a:txBody>
                  <a:tcPr anchor="ctr"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1.00</a:t>
                      </a:r>
                    </a:p>
                  </a:txBody>
                  <a:tcPr anchor="ctr"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0.91</a:t>
                      </a:r>
                    </a:p>
                  </a:txBody>
                  <a:tcPr anchor="ctr"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5595356"/>
                  </a:ext>
                </a:extLst>
              </a:tr>
              <a:tr h="40230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Random Forest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7312465"/>
                  </a:ext>
                </a:extLst>
              </a:tr>
              <a:tr h="40230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XGBoost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4915213"/>
                  </a:ext>
                </a:extLst>
              </a:tr>
              <a:tr h="40230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XGBoost Tuned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72735"/>
                  </a:ext>
                </a:extLst>
              </a:tr>
              <a:tr h="40230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Random Forest Tuned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0692589"/>
                  </a:ext>
                </a:extLst>
              </a:tr>
              <a:tr h="40230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ANN Tuned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1917766"/>
                  </a:ext>
                </a:extLst>
              </a:tr>
              <a:tr h="40230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KNN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420011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B26C1D8-8BF8-7F34-0552-BEB6ADEDCBC8}"/>
              </a:ext>
            </a:extLst>
          </p:cNvPr>
          <p:cNvGraphicFramePr>
            <a:graphicFrameLocks noGrp="1"/>
          </p:cNvGraphicFramePr>
          <p:nvPr/>
        </p:nvGraphicFramePr>
        <p:xfrm>
          <a:off x="390293" y="2252546"/>
          <a:ext cx="10381785" cy="457200"/>
        </p:xfrm>
        <a:graphic>
          <a:graphicData uri="http://schemas.openxmlformats.org/drawingml/2006/table">
            <a:tbl>
              <a:tblPr/>
              <a:tblGrid>
                <a:gridCol w="10381785">
                  <a:extLst>
                    <a:ext uri="{9D8B030D-6E8A-4147-A177-3AD203B41FA5}">
                      <a16:colId xmlns:a16="http://schemas.microsoft.com/office/drawing/2014/main" val="194839232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57150" cmpd="sng">
                      <a:solidFill>
                        <a:srgbClr val="FFFF00"/>
                      </a:solidFill>
                      <a:prstDash val="solid"/>
                    </a:lnL>
                    <a:lnR w="57150" cmpd="sng">
                      <a:solidFill>
                        <a:srgbClr val="FFFF00"/>
                      </a:solidFill>
                      <a:prstDash val="solid"/>
                    </a:lnR>
                    <a:lnT w="57150" cmpd="sng">
                      <a:solidFill>
                        <a:srgbClr val="FFFF00"/>
                      </a:solidFill>
                      <a:prstDash val="solid"/>
                    </a:lnT>
                    <a:lnB w="57150" cmpd="sng">
                      <a:solidFill>
                        <a:srgbClr val="FFFF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891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3284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1254154" y="384930"/>
            <a:ext cx="8665209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 of model performance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271580C-9620-4B95-D078-C4C04274B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119228"/>
              </p:ext>
            </p:extLst>
          </p:nvPr>
        </p:nvGraphicFramePr>
        <p:xfrm>
          <a:off x="351262" y="1267130"/>
          <a:ext cx="10470991" cy="482781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449659">
                  <a:extLst>
                    <a:ext uri="{9D8B030D-6E8A-4147-A177-3AD203B41FA5}">
                      <a16:colId xmlns:a16="http://schemas.microsoft.com/office/drawing/2014/main" val="3868702492"/>
                    </a:ext>
                  </a:extLst>
                </a:gridCol>
                <a:gridCol w="869795">
                  <a:extLst>
                    <a:ext uri="{9D8B030D-6E8A-4147-A177-3AD203B41FA5}">
                      <a16:colId xmlns:a16="http://schemas.microsoft.com/office/drawing/2014/main" val="2853204050"/>
                    </a:ext>
                  </a:extLst>
                </a:gridCol>
                <a:gridCol w="1072113">
                  <a:extLst>
                    <a:ext uri="{9D8B030D-6E8A-4147-A177-3AD203B41FA5}">
                      <a16:colId xmlns:a16="http://schemas.microsoft.com/office/drawing/2014/main" val="3654009922"/>
                    </a:ext>
                  </a:extLst>
                </a:gridCol>
                <a:gridCol w="1179904">
                  <a:extLst>
                    <a:ext uri="{9D8B030D-6E8A-4147-A177-3AD203B41FA5}">
                      <a16:colId xmlns:a16="http://schemas.microsoft.com/office/drawing/2014/main" val="2250160109"/>
                    </a:ext>
                  </a:extLst>
                </a:gridCol>
                <a:gridCol w="1179904">
                  <a:extLst>
                    <a:ext uri="{9D8B030D-6E8A-4147-A177-3AD203B41FA5}">
                      <a16:colId xmlns:a16="http://schemas.microsoft.com/office/drawing/2014/main" val="2479068375"/>
                    </a:ext>
                  </a:extLst>
                </a:gridCol>
                <a:gridCol w="1179904">
                  <a:extLst>
                    <a:ext uri="{9D8B030D-6E8A-4147-A177-3AD203B41FA5}">
                      <a16:colId xmlns:a16="http://schemas.microsoft.com/office/drawing/2014/main" val="1957743755"/>
                    </a:ext>
                  </a:extLst>
                </a:gridCol>
                <a:gridCol w="1179904">
                  <a:extLst>
                    <a:ext uri="{9D8B030D-6E8A-4147-A177-3AD203B41FA5}">
                      <a16:colId xmlns:a16="http://schemas.microsoft.com/office/drawing/2014/main" val="3838558364"/>
                    </a:ext>
                  </a:extLst>
                </a:gridCol>
                <a:gridCol w="1179904">
                  <a:extLst>
                    <a:ext uri="{9D8B030D-6E8A-4147-A177-3AD203B41FA5}">
                      <a16:colId xmlns:a16="http://schemas.microsoft.com/office/drawing/2014/main" val="3963075499"/>
                    </a:ext>
                  </a:extLst>
                </a:gridCol>
                <a:gridCol w="1179904">
                  <a:extLst>
                    <a:ext uri="{9D8B030D-6E8A-4147-A177-3AD203B41FA5}">
                      <a16:colId xmlns:a16="http://schemas.microsoft.com/office/drawing/2014/main" val="3440895226"/>
                    </a:ext>
                  </a:extLst>
                </a:gridCol>
              </a:tblGrid>
              <a:tr h="402305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Model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Training dataset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Testing dataset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877177"/>
                  </a:ext>
                </a:extLst>
              </a:tr>
              <a:tr h="40230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F1-Score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0164401"/>
                  </a:ext>
                </a:extLst>
              </a:tr>
              <a:tr h="4023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KNN Tuned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4371948"/>
                  </a:ext>
                </a:extLst>
              </a:tr>
              <a:tr h="4023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95356"/>
                  </a:ext>
                </a:extLst>
              </a:tr>
              <a:tr h="4023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AdaBoost Tuned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7312465"/>
                  </a:ext>
                </a:extLst>
              </a:tr>
              <a:tr h="4023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Gradient boosting with default 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4915213"/>
                  </a:ext>
                </a:extLst>
              </a:tr>
              <a:tr h="4023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72735"/>
                  </a:ext>
                </a:extLst>
              </a:tr>
              <a:tr h="4023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0692589"/>
                  </a:ext>
                </a:extLst>
              </a:tr>
              <a:tr h="4023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AdaBoost with default 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1917766"/>
                  </a:ext>
                </a:extLst>
              </a:tr>
              <a:tr h="4023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Logistic Regression Tuned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4200117"/>
                  </a:ext>
                </a:extLst>
              </a:tr>
              <a:tr h="4023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Logistic Regression with Smote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>
                          <a:effectLst/>
                        </a:rPr>
                        <a:t>0.56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4165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021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467639" y="708315"/>
            <a:ext cx="10676857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Modelling Approach Used &amp; Why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B8933-F44C-374A-B677-D79AD8184284}"/>
              </a:ext>
            </a:extLst>
          </p:cNvPr>
          <p:cNvSpPr txBox="1"/>
          <p:nvPr/>
        </p:nvSpPr>
        <p:spPr>
          <a:xfrm>
            <a:off x="1360449" y="1929161"/>
            <a:ext cx="883176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predicting customer churn, consider the cost of false positives and false negatives. </a:t>
            </a:r>
          </a:p>
          <a:p>
            <a:pPr marL="285750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best model balances precision (predicted positives that are actually positive) and recall (actual positives correctly predicted)</a:t>
            </a:r>
          </a:p>
          <a:p>
            <a:pPr>
              <a:buClr>
                <a:srgbClr val="0070C0"/>
              </a:buClr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assess the trade-off between these two criteria and determine which model is the best, the F1-score is a helpful metric</a:t>
            </a:r>
          </a:p>
          <a:p>
            <a:pPr>
              <a:buClr>
                <a:srgbClr val="0070C0"/>
              </a:buClr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While the goal is to reduce FN, recall is particularly important in this situation</a:t>
            </a:r>
          </a:p>
          <a:p>
            <a:pPr>
              <a:buClr>
                <a:srgbClr val="0070C0"/>
              </a:buClr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Recall values should be used to determine the ideal model</a:t>
            </a:r>
          </a:p>
        </p:txBody>
      </p:sp>
    </p:spTree>
    <p:extLst>
      <p:ext uri="{BB962C8B-B14F-4D97-AF65-F5344CB8AC3E}">
        <p14:creationId xmlns:p14="http://schemas.microsoft.com/office/powerpoint/2010/main" val="2046321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84B8933-F44C-374A-B677-D79AD8184284}"/>
              </a:ext>
            </a:extLst>
          </p:cNvPr>
          <p:cNvSpPr txBox="1"/>
          <p:nvPr/>
        </p:nvSpPr>
        <p:spPr>
          <a:xfrm>
            <a:off x="562583" y="2611321"/>
            <a:ext cx="2165655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buClr>
                <a:srgbClr val="0070C0"/>
              </a:buClr>
            </a:pPr>
            <a:r>
              <a:rPr lang="en-I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</a:t>
            </a: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algn="ctr">
              <a:buClr>
                <a:srgbClr val="0070C0"/>
              </a:buClr>
            </a:pPr>
            <a:endParaRPr lang="en-IN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Clr>
                <a:srgbClr val="0070C0"/>
              </a:buClr>
            </a:pP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highest value here among all models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B4E00F-3D17-998E-8B61-30BF8EE14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731658"/>
              </p:ext>
            </p:extLst>
          </p:nvPr>
        </p:nvGraphicFramePr>
        <p:xfrm>
          <a:off x="1906859" y="1039046"/>
          <a:ext cx="6644966" cy="120691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925350">
                  <a:extLst>
                    <a:ext uri="{9D8B030D-6E8A-4147-A177-3AD203B41FA5}">
                      <a16:colId xmlns:a16="http://schemas.microsoft.com/office/drawing/2014/main" val="2032817700"/>
                    </a:ext>
                  </a:extLst>
                </a:gridCol>
                <a:gridCol w="1179904">
                  <a:extLst>
                    <a:ext uri="{9D8B030D-6E8A-4147-A177-3AD203B41FA5}">
                      <a16:colId xmlns:a16="http://schemas.microsoft.com/office/drawing/2014/main" val="2110272304"/>
                    </a:ext>
                  </a:extLst>
                </a:gridCol>
                <a:gridCol w="1179904">
                  <a:extLst>
                    <a:ext uri="{9D8B030D-6E8A-4147-A177-3AD203B41FA5}">
                      <a16:colId xmlns:a16="http://schemas.microsoft.com/office/drawing/2014/main" val="3877529509"/>
                    </a:ext>
                  </a:extLst>
                </a:gridCol>
                <a:gridCol w="1179904">
                  <a:extLst>
                    <a:ext uri="{9D8B030D-6E8A-4147-A177-3AD203B41FA5}">
                      <a16:colId xmlns:a16="http://schemas.microsoft.com/office/drawing/2014/main" val="1610258569"/>
                    </a:ext>
                  </a:extLst>
                </a:gridCol>
                <a:gridCol w="1179904">
                  <a:extLst>
                    <a:ext uri="{9D8B030D-6E8A-4147-A177-3AD203B41FA5}">
                      <a16:colId xmlns:a16="http://schemas.microsoft.com/office/drawing/2014/main" val="1260471578"/>
                    </a:ext>
                  </a:extLst>
                </a:gridCol>
              </a:tblGrid>
              <a:tr h="402305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Model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Testing dataset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882671"/>
                  </a:ext>
                </a:extLst>
              </a:tr>
              <a:tr h="40230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Accuracy</a:t>
                      </a:r>
                      <a:endParaRPr lang="en-US" sz="1400" b="1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Recall</a:t>
                      </a:r>
                      <a:endParaRPr lang="en-US" sz="1400" b="1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Precision</a:t>
                      </a:r>
                      <a:endParaRPr lang="en-US" sz="1400" b="1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F1-Score</a:t>
                      </a:r>
                      <a:endParaRPr lang="en-US" sz="1400" b="1" i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568781"/>
                  </a:ext>
                </a:extLst>
              </a:tr>
              <a:tr h="4023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Gradient Boosting tuned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dirty="0">
                          <a:effectLst/>
                        </a:rPr>
                        <a:t>0.95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03780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B3A08BB-36BE-A8EC-BC7B-A736A720B1CA}"/>
              </a:ext>
            </a:extLst>
          </p:cNvPr>
          <p:cNvSpPr txBox="1"/>
          <p:nvPr/>
        </p:nvSpPr>
        <p:spPr>
          <a:xfrm>
            <a:off x="3210537" y="2611321"/>
            <a:ext cx="2165655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buClr>
                <a:srgbClr val="0070C0"/>
              </a:buClr>
            </a:pPr>
            <a:r>
              <a:rPr lang="en-I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Precision</a:t>
            </a:r>
          </a:p>
          <a:p>
            <a:pPr algn="ctr">
              <a:buClr>
                <a:srgbClr val="0070C0"/>
              </a:buClr>
            </a:pPr>
            <a:endParaRPr lang="en-IN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Clr>
                <a:srgbClr val="0070C0"/>
              </a:buClr>
            </a:pP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highest value here among all models 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23E712-DE55-B36E-490D-232BAC6D6B53}"/>
              </a:ext>
            </a:extLst>
          </p:cNvPr>
          <p:cNvSpPr txBox="1"/>
          <p:nvPr/>
        </p:nvSpPr>
        <p:spPr>
          <a:xfrm>
            <a:off x="5858492" y="2611322"/>
            <a:ext cx="2165655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buClr>
                <a:srgbClr val="0070C0"/>
              </a:buClr>
            </a:pPr>
            <a:r>
              <a:rPr lang="en-I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</a:p>
          <a:p>
            <a:pPr algn="ctr">
              <a:buClr>
                <a:srgbClr val="0070C0"/>
              </a:buClr>
            </a:pPr>
            <a:endParaRPr lang="en-IN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Clr>
                <a:srgbClr val="0070C0"/>
              </a:buClr>
            </a:pP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 the highest value here comparatively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D6B71-4E03-43D7-19F7-74AFC180DB18}"/>
              </a:ext>
            </a:extLst>
          </p:cNvPr>
          <p:cNvSpPr txBox="1"/>
          <p:nvPr/>
        </p:nvSpPr>
        <p:spPr>
          <a:xfrm>
            <a:off x="8551825" y="2585287"/>
            <a:ext cx="2165655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buClr>
                <a:srgbClr val="0070C0"/>
              </a:buClr>
            </a:pPr>
            <a:r>
              <a:rPr lang="en-I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F1-Score </a:t>
            </a:r>
          </a:p>
          <a:p>
            <a:pPr algn="ctr">
              <a:buClr>
                <a:srgbClr val="0070C0"/>
              </a:buClr>
            </a:pPr>
            <a:endParaRPr lang="en-IN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Clr>
                <a:srgbClr val="0070C0"/>
              </a:buClr>
            </a:pP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highest here among all models</a:t>
            </a:r>
            <a:endParaRPr lang="en-IN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AD0C29-B4D9-76CD-766D-368942FA5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83" y="4065230"/>
            <a:ext cx="3373797" cy="24804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C44C3C-DDFD-3EE7-F9C9-7448A6AC37A1}"/>
              </a:ext>
            </a:extLst>
          </p:cNvPr>
          <p:cNvSpPr txBox="1"/>
          <p:nvPr/>
        </p:nvSpPr>
        <p:spPr>
          <a:xfrm>
            <a:off x="6466540" y="4832260"/>
            <a:ext cx="31152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AUC and ROC curve of the test data of Gradient boost tuned model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A1E90F47-49F4-3082-147D-5AFA6B057FA6}"/>
              </a:ext>
            </a:extLst>
          </p:cNvPr>
          <p:cNvSpPr/>
          <p:nvPr/>
        </p:nvSpPr>
        <p:spPr>
          <a:xfrm>
            <a:off x="4453360" y="5173225"/>
            <a:ext cx="1642640" cy="1490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1B66AE-25AC-76F5-C97A-4E3C32DF0A3D}"/>
              </a:ext>
            </a:extLst>
          </p:cNvPr>
          <p:cNvSpPr txBox="1"/>
          <p:nvPr/>
        </p:nvSpPr>
        <p:spPr>
          <a:xfrm>
            <a:off x="2249481" y="412059"/>
            <a:ext cx="6660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Gradient boosting tuned model is the best!</a:t>
            </a:r>
          </a:p>
        </p:txBody>
      </p:sp>
    </p:spTree>
    <p:extLst>
      <p:ext uri="{BB962C8B-B14F-4D97-AF65-F5344CB8AC3E}">
        <p14:creationId xmlns:p14="http://schemas.microsoft.com/office/powerpoint/2010/main" val="606861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1271239" y="920188"/>
            <a:ext cx="9099395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this modelling approach?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D7BF2A-E369-0D3B-C0A7-066B241FA344}"/>
              </a:ext>
            </a:extLst>
          </p:cNvPr>
          <p:cNvSpPr/>
          <p:nvPr/>
        </p:nvSpPr>
        <p:spPr>
          <a:xfrm>
            <a:off x="757571" y="2112540"/>
            <a:ext cx="9906711" cy="255454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Gradient boosting tuned model, overall performance metrics are the best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High AUC indicates that the model is able to distinguish between positive and negative instances with a high degree of accuracy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Due to this, the model is able to make accurate predictions and avoid false positives and false negatives</a:t>
            </a:r>
          </a:p>
        </p:txBody>
      </p:sp>
    </p:spTree>
    <p:extLst>
      <p:ext uri="{BB962C8B-B14F-4D97-AF65-F5344CB8AC3E}">
        <p14:creationId xmlns:p14="http://schemas.microsoft.com/office/powerpoint/2010/main" val="1872197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1170878" y="474140"/>
            <a:ext cx="9099395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b="1" dirty="0">
                <a:solidFill>
                  <a:srgbClr val="00589F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Top predictors of the best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F6FCEC-F99B-E188-D12A-45226ACD6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93" y="1684473"/>
            <a:ext cx="5073805" cy="39772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D2B1B7-40A1-FF69-82B3-61535B582686}"/>
              </a:ext>
            </a:extLst>
          </p:cNvPr>
          <p:cNvSpPr txBox="1"/>
          <p:nvPr/>
        </p:nvSpPr>
        <p:spPr>
          <a:xfrm>
            <a:off x="6096001" y="1594624"/>
            <a:ext cx="444190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model is most influenced by tenure, which accounts for 35% of the relevance of each attribute variable. Most churn is found in low tenure</a:t>
            </a:r>
          </a:p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next four features add up to nearly 30% of relevance.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Days since last contacting customer service: 9%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agent for customer service: 7%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Contacts with customer service: 7%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a complaint was filed or not last year - 6%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Each of these relates to providing excellent customer service. Things that might be improved</a:t>
            </a:r>
          </a:p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Revenue per month attribute contributes to 6% of all feature importance. The churn in high revenue customers is more than in low revenue customers</a:t>
            </a:r>
          </a:p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</a:t>
            </a:r>
            <a:r>
              <a:rPr lang="en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ashback</a:t>
            </a:r>
            <a:r>
              <a:rPr lang="e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and other features all have individual contributions of less than 5% each</a:t>
            </a:r>
          </a:p>
          <a:p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042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919529" y="350718"/>
            <a:ext cx="9116863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2BBB34-2883-154B-B588-CD7BD235E055}"/>
              </a:ext>
            </a:extLst>
          </p:cNvPr>
          <p:cNvSpPr/>
          <p:nvPr/>
        </p:nvSpPr>
        <p:spPr>
          <a:xfrm>
            <a:off x="1287519" y="5148306"/>
            <a:ext cx="1019742" cy="1019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C5FCBC-3839-AB2B-4187-AAD4EE2AE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35" y="2991006"/>
            <a:ext cx="4204170" cy="27926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C95004-FBB5-3CAC-2EF7-68919DE5C5BC}"/>
              </a:ext>
            </a:extLst>
          </p:cNvPr>
          <p:cNvSpPr txBox="1"/>
          <p:nvPr/>
        </p:nvSpPr>
        <p:spPr>
          <a:xfrm>
            <a:off x="798604" y="5788779"/>
            <a:ext cx="3548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Majority of the customers are from tier 1 cities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7F44DC-35AA-8508-973F-1960D2FE7978}"/>
              </a:ext>
            </a:extLst>
          </p:cNvPr>
          <p:cNvSpPr txBox="1"/>
          <p:nvPr/>
        </p:nvSpPr>
        <p:spPr>
          <a:xfrm>
            <a:off x="6741865" y="5788779"/>
            <a:ext cx="3548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Majority of the clients are male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B11CF7-42D4-10C2-C40C-B28CBA17DC45}"/>
              </a:ext>
            </a:extLst>
          </p:cNvPr>
          <p:cNvSpPr txBox="1"/>
          <p:nvPr/>
        </p:nvSpPr>
        <p:spPr>
          <a:xfrm>
            <a:off x="768203" y="1224586"/>
            <a:ext cx="8865220" cy="16004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Assumptions: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account_tenure</a:t>
            </a:r>
            <a:r>
              <a:rPr lang="en-IN" sz="1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considered in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revenue_per_month</a:t>
            </a:r>
            <a:r>
              <a:rPr lang="en-IN" sz="1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average revenue per month which is considered in Rupees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rev_growth_yoy</a:t>
            </a:r>
            <a:r>
              <a:rPr lang="en-IN" sz="1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considered in percentage (%)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cashback is considered in Rupees</a:t>
            </a:r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EF67A5-E0EC-7382-F88C-50953A59D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716" y="2937887"/>
            <a:ext cx="4204171" cy="287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653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1090258" y="305683"/>
            <a:ext cx="9116863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2BBB34-2883-154B-B588-CD7BD235E055}"/>
              </a:ext>
            </a:extLst>
          </p:cNvPr>
          <p:cNvSpPr/>
          <p:nvPr/>
        </p:nvSpPr>
        <p:spPr>
          <a:xfrm>
            <a:off x="1287519" y="5148306"/>
            <a:ext cx="1019742" cy="1019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89D5F40-FD28-F442-905F-E871742D5041}"/>
              </a:ext>
            </a:extLst>
          </p:cNvPr>
          <p:cNvSpPr/>
          <p:nvPr/>
        </p:nvSpPr>
        <p:spPr>
          <a:xfrm>
            <a:off x="4585895" y="5148306"/>
            <a:ext cx="1019742" cy="1019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C95004-FBB5-3CAC-2EF7-68919DE5C5BC}"/>
              </a:ext>
            </a:extLst>
          </p:cNvPr>
          <p:cNvSpPr txBox="1"/>
          <p:nvPr/>
        </p:nvSpPr>
        <p:spPr>
          <a:xfrm>
            <a:off x="1546934" y="4634683"/>
            <a:ext cx="39060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Majority customers prefers debit and credit card as their mode of payment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7F44DC-35AA-8508-973F-1960D2FE7978}"/>
              </a:ext>
            </a:extLst>
          </p:cNvPr>
          <p:cNvSpPr txBox="1"/>
          <p:nvPr/>
        </p:nvSpPr>
        <p:spPr>
          <a:xfrm>
            <a:off x="6658289" y="4634683"/>
            <a:ext cx="3548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Majority of the clients use mobiles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EB0726-C227-A743-6C87-9703D8622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30" y="1416206"/>
            <a:ext cx="4199360" cy="292682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F81B66-54B3-7F0A-D1B0-2D1D9CCFF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416" y="1435184"/>
            <a:ext cx="4760487" cy="312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560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1050524" y="336009"/>
            <a:ext cx="9116863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2BBB34-2883-154B-B588-CD7BD235E055}"/>
              </a:ext>
            </a:extLst>
          </p:cNvPr>
          <p:cNvSpPr/>
          <p:nvPr/>
        </p:nvSpPr>
        <p:spPr>
          <a:xfrm>
            <a:off x="1287519" y="5148306"/>
            <a:ext cx="1019742" cy="1019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C95004-FBB5-3CAC-2EF7-68919DE5C5BC}"/>
              </a:ext>
            </a:extLst>
          </p:cNvPr>
          <p:cNvSpPr txBox="1"/>
          <p:nvPr/>
        </p:nvSpPr>
        <p:spPr>
          <a:xfrm>
            <a:off x="883257" y="4561774"/>
            <a:ext cx="3548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Customers from Tier-1 and Tier-3 exhibit a significant churn rate.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69F815-CE7A-266A-C649-2D9D9C851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62" y="1130769"/>
            <a:ext cx="3385170" cy="30509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E8B5B0-4905-A041-F030-A6AA2F922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590" y="1120333"/>
            <a:ext cx="3705632" cy="30613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D9C3CA-E23D-02C9-98A8-64E23E67314E}"/>
              </a:ext>
            </a:extLst>
          </p:cNvPr>
          <p:cNvSpPr txBox="1"/>
          <p:nvPr/>
        </p:nvSpPr>
        <p:spPr>
          <a:xfrm>
            <a:off x="6556916" y="4561774"/>
            <a:ext cx="34603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High churn rates for payments made using debit and credit cards.</a:t>
            </a:r>
          </a:p>
        </p:txBody>
      </p:sp>
    </p:spTree>
    <p:extLst>
      <p:ext uri="{BB962C8B-B14F-4D97-AF65-F5344CB8AC3E}">
        <p14:creationId xmlns:p14="http://schemas.microsoft.com/office/powerpoint/2010/main" val="2528601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812739" y="238239"/>
            <a:ext cx="9116863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2BBB34-2883-154B-B588-CD7BD235E055}"/>
              </a:ext>
            </a:extLst>
          </p:cNvPr>
          <p:cNvSpPr/>
          <p:nvPr/>
        </p:nvSpPr>
        <p:spPr>
          <a:xfrm>
            <a:off x="1287519" y="5148306"/>
            <a:ext cx="1019742" cy="1019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89D5F40-FD28-F442-905F-E871742D5041}"/>
              </a:ext>
            </a:extLst>
          </p:cNvPr>
          <p:cNvSpPr/>
          <p:nvPr/>
        </p:nvSpPr>
        <p:spPr>
          <a:xfrm>
            <a:off x="4585895" y="5148306"/>
            <a:ext cx="1019742" cy="1019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DD2E12-B317-211C-0EC2-94980A2C6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912" y="1070436"/>
            <a:ext cx="3705751" cy="32835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E04E94-CEAB-30B1-75DA-07D6E5083351}"/>
              </a:ext>
            </a:extLst>
          </p:cNvPr>
          <p:cNvSpPr txBox="1"/>
          <p:nvPr/>
        </p:nvSpPr>
        <p:spPr>
          <a:xfrm>
            <a:off x="939023" y="4443309"/>
            <a:ext cx="3548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Customers into “Regular Plus” segment shows high trend towards Churn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362B53-101D-178D-2FB2-FC624FECF952}"/>
              </a:ext>
            </a:extLst>
          </p:cNvPr>
          <p:cNvSpPr txBox="1"/>
          <p:nvPr/>
        </p:nvSpPr>
        <p:spPr>
          <a:xfrm>
            <a:off x="6192831" y="4443309"/>
            <a:ext cx="3548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Customers with marital status as “Single” shows high volume of Churn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061519-B7B4-24EF-42FB-4F8C03182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52" y="963667"/>
            <a:ext cx="4045903" cy="344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118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746419" y="730617"/>
            <a:ext cx="10126019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Insights from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B8933-F44C-374A-B677-D79AD8184284}"/>
              </a:ext>
            </a:extLst>
          </p:cNvPr>
          <p:cNvSpPr txBox="1"/>
          <p:nvPr/>
        </p:nvSpPr>
        <p:spPr>
          <a:xfrm>
            <a:off x="1126273" y="1640170"/>
            <a:ext cx="911054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City</a:t>
            </a:r>
            <a:r>
              <a:rPr lang="en-IN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IN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tier type 1</a:t>
            </a:r>
            <a:r>
              <a:rPr lang="en-IN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shows the </a:t>
            </a:r>
            <a:r>
              <a:rPr lang="en-IN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highest rate of churn </a:t>
            </a:r>
            <a:r>
              <a:rPr lang="en-IN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compared to city tier types 2 and 3</a:t>
            </a:r>
          </a:p>
          <a:p>
            <a:endParaRPr lang="en-IN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Customers who prefer </a:t>
            </a:r>
            <a:r>
              <a:rPr lang="en-IN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debit cards or credit cards</a:t>
            </a:r>
            <a:r>
              <a:rPr lang="en-IN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as their mode of payment are more likely to churn </a:t>
            </a:r>
          </a:p>
          <a:p>
            <a:endParaRPr lang="en-IN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Male</a:t>
            </a:r>
            <a:r>
              <a:rPr lang="en-IN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IN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customers</a:t>
            </a:r>
            <a:r>
              <a:rPr lang="en-IN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have a higher churn rate compared to female customers</a:t>
            </a:r>
          </a:p>
          <a:p>
            <a:endParaRPr lang="en-IN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Customers in the "</a:t>
            </a:r>
            <a:r>
              <a:rPr lang="en-IN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Regular Plus</a:t>
            </a:r>
            <a:r>
              <a:rPr lang="en-IN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 segment are showing a higher churn rate</a:t>
            </a:r>
          </a:p>
          <a:p>
            <a:endParaRPr lang="en-IN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Single customers </a:t>
            </a:r>
            <a:r>
              <a:rPr lang="en-IN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are more prone to churning compared to divorced or married customers</a:t>
            </a:r>
          </a:p>
          <a:p>
            <a:endParaRPr lang="en-IN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Customers who use the service over a </a:t>
            </a:r>
            <a:r>
              <a:rPr lang="en-IN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mobile device </a:t>
            </a:r>
            <a:r>
              <a:rPr lang="en-IN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show a higher rate of churn</a:t>
            </a:r>
          </a:p>
          <a:p>
            <a:endParaRPr lang="en-IN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Any </a:t>
            </a:r>
            <a:r>
              <a:rPr lang="en-IN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complaints raised in last 12 months </a:t>
            </a: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doesn’t show any impact toward churn</a:t>
            </a:r>
          </a:p>
          <a:p>
            <a:endParaRPr lang="en-IN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Tenure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and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cashback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are directly proportional to each other</a:t>
            </a:r>
            <a:endParaRPr lang="en-IN" sz="1800" dirty="0">
              <a:effectLst/>
              <a:latin typeface="SymbolMT"/>
            </a:endParaRPr>
          </a:p>
        </p:txBody>
      </p:sp>
    </p:spTree>
    <p:extLst>
      <p:ext uri="{BB962C8B-B14F-4D97-AF65-F5344CB8AC3E}">
        <p14:creationId xmlns:p14="http://schemas.microsoft.com/office/powerpoint/2010/main" val="2249965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3252453" y="616211"/>
            <a:ext cx="5374857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B8933-F44C-374A-B677-D79AD8184284}"/>
              </a:ext>
            </a:extLst>
          </p:cNvPr>
          <p:cNvSpPr txBox="1"/>
          <p:nvPr/>
        </p:nvSpPr>
        <p:spPr>
          <a:xfrm>
            <a:off x="825191" y="1471252"/>
            <a:ext cx="962350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Increase visibility in </a:t>
            </a: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tier 2 cities </a:t>
            </a: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acquire new customers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6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Promote hassle-free and secure payment methods like standing instructions in </a:t>
            </a: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bank accounts or UPI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6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Conduct a survey </a:t>
            </a: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better understand customer expectations and improve service scores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6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Train customer care executives </a:t>
            </a: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deliver </a:t>
            </a: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better service </a:t>
            </a: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 provide them with necessary tools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6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Offer </a:t>
            </a: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customized plans </a:t>
            </a: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based on customer spend and tenure to improve customer loyalty and retention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6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Offer </a:t>
            </a: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family floater plans </a:t>
            </a: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married customers to increase customer satisfaction and loyalty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6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Tailor </a:t>
            </a: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services and marketing efforts </a:t>
            </a: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meet the needs and preferences of target audience to improve </a:t>
            </a: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customer satisfaction and drive business growth</a:t>
            </a:r>
          </a:p>
        </p:txBody>
      </p:sp>
    </p:spTree>
    <p:extLst>
      <p:ext uri="{BB962C8B-B14F-4D97-AF65-F5344CB8AC3E}">
        <p14:creationId xmlns:p14="http://schemas.microsoft.com/office/powerpoint/2010/main" val="2023734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3408571" y="560456"/>
            <a:ext cx="5374857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B8933-F44C-374A-B677-D79AD8184284}"/>
              </a:ext>
            </a:extLst>
          </p:cNvPr>
          <p:cNvSpPr txBox="1"/>
          <p:nvPr/>
        </p:nvSpPr>
        <p:spPr>
          <a:xfrm>
            <a:off x="970155" y="1321202"/>
            <a:ext cx="9556595" cy="4976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Analyse customer churning pattern based on </a:t>
            </a: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gender and address </a:t>
            </a: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reasons why male customers are more likely to churn</a:t>
            </a:r>
          </a:p>
          <a:p>
            <a:pPr algn="l"/>
            <a:endParaRPr lang="en-IN" sz="16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Focus on </a:t>
            </a: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improving customer experience</a:t>
            </a: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for the "Regular Plus" segment, as they have shown a higher churn rate</a:t>
            </a:r>
          </a:p>
          <a:p>
            <a:pPr algn="l"/>
            <a:endParaRPr lang="en-IN" sz="16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Offer tailored packages with </a:t>
            </a: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added benefits or discounts </a:t>
            </a: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reduce churn rates among single customers</a:t>
            </a:r>
          </a:p>
          <a:p>
            <a:pPr algn="l"/>
            <a:endParaRPr lang="en-IN" sz="16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Conduct a detailed study of mobile user preferences and </a:t>
            </a: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address pain points </a:t>
            </a: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reduce churn rates among mobile users</a:t>
            </a:r>
          </a:p>
          <a:p>
            <a:pPr algn="l"/>
            <a:endParaRPr lang="en-IN" sz="16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Develop </a:t>
            </a: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loyalty programs or rewards </a:t>
            </a: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repeat business to increase customer retention and loyalty</a:t>
            </a:r>
          </a:p>
          <a:p>
            <a:pPr algn="l"/>
            <a:endParaRPr lang="en-IN" sz="16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Offer financial incentives or flexible payment</a:t>
            </a: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options to reduce churn among customers who prefer debit or credit cards</a:t>
            </a:r>
          </a:p>
          <a:p>
            <a:pPr algn="l"/>
            <a:endParaRPr lang="en-IN" sz="16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Invest in technology </a:t>
            </a: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streamline customer service processes and provide faster and more </a:t>
            </a: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efficient service to improve customer satisfaction </a:t>
            </a: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 reduce churn</a:t>
            </a:r>
          </a:p>
        </p:txBody>
      </p:sp>
    </p:spTree>
    <p:extLst>
      <p:ext uri="{BB962C8B-B14F-4D97-AF65-F5344CB8AC3E}">
        <p14:creationId xmlns:p14="http://schemas.microsoft.com/office/powerpoint/2010/main" val="2027361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3408571" y="560456"/>
            <a:ext cx="5374857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B8933-F44C-374A-B677-D79AD8184284}"/>
              </a:ext>
            </a:extLst>
          </p:cNvPr>
          <p:cNvSpPr txBox="1"/>
          <p:nvPr/>
        </p:nvSpPr>
        <p:spPr>
          <a:xfrm>
            <a:off x="970155" y="1533075"/>
            <a:ext cx="955659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potential method of categorizing customers involves </a:t>
            </a: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dividing them into four groups</a:t>
            </a: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based on their </a:t>
            </a: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spending habits and loyalty</a:t>
            </a: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endParaRPr lang="en-IN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6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first group consists of </a:t>
            </a: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high-spending customers who have been loyal </a:t>
            </a: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the company for a long time. These customers may receive exclusive rewards and benefits.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6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second group consists of </a:t>
            </a: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high-spending customers who have not been loyal </a:t>
            </a: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the company for a long time. They may need additional incentives to continue shopping with the company.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6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third group consists of </a:t>
            </a: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low-spending customers who have been loyal </a:t>
            </a: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the company for a long time. These customers may appreciate rewards and incentives to encourage them to spend more.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600" b="0" i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fourth group consists of </a:t>
            </a:r>
            <a:r>
              <a:rPr lang="en-IN" sz="1600" b="1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low-spending customers who have not been loyal </a:t>
            </a:r>
            <a:r>
              <a:rPr lang="en-IN" sz="1600" b="0" i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the company for a long time. These customers may require more attention and engagement to maintain their interest in the company.</a:t>
            </a:r>
          </a:p>
        </p:txBody>
      </p:sp>
    </p:spTree>
    <p:extLst>
      <p:ext uri="{BB962C8B-B14F-4D97-AF65-F5344CB8AC3E}">
        <p14:creationId xmlns:p14="http://schemas.microsoft.com/office/powerpoint/2010/main" val="1357103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8621ED-814E-F441-93A2-B7DC230A7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19" y="595020"/>
            <a:ext cx="3021463" cy="590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890AA6-3288-7A41-9F48-31D099259D5C}"/>
              </a:ext>
            </a:extLst>
          </p:cNvPr>
          <p:cNvSpPr txBox="1"/>
          <p:nvPr/>
        </p:nvSpPr>
        <p:spPr>
          <a:xfrm>
            <a:off x="1352622" y="2521059"/>
            <a:ext cx="407802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3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46549922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2711</TotalTime>
  <Words>1491</Words>
  <Application>Microsoft Macintosh PowerPoint</Application>
  <PresentationFormat>Widescreen</PresentationFormat>
  <Paragraphs>367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SymbolMT</vt:lpstr>
      <vt:lpstr>Verdana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Rashmi P</dc:creator>
  <cp:lastModifiedBy>Microsoft Office User</cp:lastModifiedBy>
  <cp:revision>142</cp:revision>
  <dcterms:created xsi:type="dcterms:W3CDTF">2019-12-31T09:37:22Z</dcterms:created>
  <dcterms:modified xsi:type="dcterms:W3CDTF">2023-03-10T18:09:37Z</dcterms:modified>
</cp:coreProperties>
</file>